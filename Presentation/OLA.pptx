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2" r:id="rId2"/>
    <p:sldId id="297" r:id="rId3"/>
    <p:sldId id="298" r:id="rId4"/>
    <p:sldId id="305" r:id="rId5"/>
    <p:sldId id="332" r:id="rId6"/>
    <p:sldId id="319" r:id="rId7"/>
    <p:sldId id="323" r:id="rId8"/>
    <p:sldId id="322" r:id="rId9"/>
    <p:sldId id="336" r:id="rId10"/>
    <p:sldId id="300" r:id="rId11"/>
    <p:sldId id="335" r:id="rId12"/>
    <p:sldId id="303" r:id="rId13"/>
    <p:sldId id="310" r:id="rId14"/>
    <p:sldId id="308" r:id="rId15"/>
    <p:sldId id="309" r:id="rId16"/>
    <p:sldId id="304" r:id="rId17"/>
    <p:sldId id="337" r:id="rId18"/>
    <p:sldId id="312" r:id="rId19"/>
    <p:sldId id="314" r:id="rId20"/>
    <p:sldId id="315" r:id="rId21"/>
    <p:sldId id="316" r:id="rId22"/>
    <p:sldId id="317" r:id="rId23"/>
    <p:sldId id="331" r:id="rId24"/>
    <p:sldId id="333" r:id="rId25"/>
    <p:sldId id="325" r:id="rId26"/>
    <p:sldId id="326" r:id="rId27"/>
    <p:sldId id="32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3" autoAdjust="0"/>
    <p:restoredTop sz="94755" autoAdjust="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738"/>
    </p:cViewPr>
  </p:sorterViewPr>
  <p:notesViewPr>
    <p:cSldViewPr>
      <p:cViewPr varScale="1">
        <p:scale>
          <a:sx n="57" d="100"/>
          <a:sy n="57" d="100"/>
        </p:scale>
        <p:origin x="-277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41845-AFA4-4254-9BAF-5BBF0431F488}" type="datetimeFigureOut">
              <a:rPr lang="en-CA" smtClean="0"/>
              <a:t>01/04/2016</a:t>
            </a:fld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32B96-A5F8-4C37-92F2-AB2F97B4EB68}" type="slidenum">
              <a:rPr lang="en-CA" smtClean="0"/>
              <a:t>‹#›</a:t>
            </a:fld>
            <a:endParaRPr lang="en-CA"/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10" name="Header Placeholder 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5008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E32B96-A5F8-4C37-92F2-AB2F97B4EB68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8380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E32B96-A5F8-4C37-92F2-AB2F97B4EB6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4795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[1]	K.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Shahin</a:t>
            </a:r>
            <a:r>
              <a:rPr lang="en-US" baseline="0" dirty="0" smtClean="0"/>
              <a:t>, “Hatch and ventilation,” Carleton University, Ottawa, ON, Design report. Rep. </a:t>
            </a:r>
            <a:r>
              <a:rPr lang="en-CA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DR-STR-KS.11.Hatchandventilation.02, April 2011.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4EE87-154B-0644-9A28-2DA6F235C79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26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[3]</a:t>
            </a:r>
            <a:r>
              <a:rPr lang="en-CA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en-CA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Addendum a to standard 55</a:t>
            </a:r>
            <a:r>
              <a:rPr lang="en-CA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CA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2013)”</a:t>
            </a:r>
            <a:r>
              <a:rPr lang="en-CA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ASHRAE. Retrieved 7 November 2015.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b="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 smtClean="0"/>
              <a:t>[4] Engineeringtoolbox.com, 'Met - Metabolic Rate', 2015. [Online]. Available: http://www.engineeringtoolbox.com/met-metabolic-rate-d_733.html. [Accessed: 12- Nov- 2015].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4EE87-154B-0644-9A28-2DA6F235C79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37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4EE87-154B-0644-9A28-2DA6F235C79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23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6096000" y="5553801"/>
            <a:ext cx="2971800" cy="10756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CA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1676400" y="4854160"/>
            <a:ext cx="5791200" cy="479840"/>
          </a:xfrm>
          <a:prstGeom prst="rect">
            <a:avLst/>
          </a:prstGeom>
        </p:spPr>
        <p:txBody>
          <a:bodyPr anchor="ctr" anchorCtr="1"/>
          <a:lstStyle>
            <a:lvl1pPr marL="0" indent="0">
              <a:buNone/>
              <a:defRPr sz="3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400" dirty="0" smtClean="0">
                <a:solidFill>
                  <a:prstClr val="white"/>
                </a:solidFill>
                <a:latin typeface="Good Times Rg" pitchFamily="34" charset="0"/>
              </a:rPr>
              <a:t>OLAMIDE OLAYINKA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1562100" y="5322969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Good Times Rg" panose="020B0605020000020001" pitchFamily="34" charset="0"/>
              </a:rPr>
              <a:t>STR TEAM</a:t>
            </a:r>
            <a:endParaRPr lang="en-CA" sz="2400" dirty="0">
              <a:latin typeface="Good Times Rg" panose="020B0605020000020001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562100" y="5773601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Good Times Rg" panose="020B0605020000020001" pitchFamily="34" charset="0"/>
              </a:rPr>
              <a:t>DESIGN REVIEW</a:t>
            </a:r>
            <a:endParaRPr lang="en-CA" sz="2400" dirty="0">
              <a:latin typeface="Good Times Rg" panose="020B0605020000020001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562100" y="6250922"/>
            <a:ext cx="601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Good Times Rg" panose="020B0605020000020001" pitchFamily="34" charset="0"/>
              </a:rPr>
              <a:t>April 2</a:t>
            </a:r>
            <a:r>
              <a:rPr lang="en-US" sz="2000" baseline="30000" dirty="0" smtClean="0">
                <a:latin typeface="Good Times Rg" panose="020B0605020000020001" pitchFamily="34" charset="0"/>
              </a:rPr>
              <a:t>nd</a:t>
            </a:r>
            <a:r>
              <a:rPr lang="en-US" sz="2000" dirty="0" smtClean="0">
                <a:latin typeface="Good Times Rg" panose="020B0605020000020001" pitchFamily="34" charset="0"/>
              </a:rPr>
              <a:t>, 2016</a:t>
            </a:r>
            <a:endParaRPr lang="en-CA" sz="2000" dirty="0">
              <a:latin typeface="Good Times Rg" panose="020B0605020000020001" pitchFamily="34" charset="0"/>
            </a:endParaRPr>
          </a:p>
        </p:txBody>
      </p:sp>
      <p:pic>
        <p:nvPicPr>
          <p:cNvPr id="2" name="Picture 1" descr="CUSP_Logo_2016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676400"/>
            <a:ext cx="3657600" cy="30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2667002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atin typeface="+mj-lt"/>
              </a:rPr>
              <a:t>Questions?</a:t>
            </a:r>
            <a:endParaRPr lang="en-CA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04124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24840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  <a:latin typeface="Good Times Rg" panose="020B0605020000020001" pitchFamily="34" charset="0"/>
              </a:defRPr>
            </a:lvl1pPr>
          </a:lstStyle>
          <a:p>
            <a:fld id="{8F89779F-7AA2-4D19-B818-C0A0925E5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CA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Good Times Rg" panose="020B0605020000020001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HATCH AND VENTILATION</a:t>
            </a:r>
            <a:endParaRPr lang="en-C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+mj-lt"/>
              </a:rPr>
              <a:t>OLAMIDE OLAYINKA</a:t>
            </a:r>
            <a:endParaRPr lang="en-CA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125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Latch Mechanism</a:t>
            </a:r>
          </a:p>
          <a:p>
            <a:r>
              <a:rPr lang="en-US" dirty="0" smtClean="0"/>
              <a:t>Hinge Motion</a:t>
            </a:r>
          </a:p>
          <a:p>
            <a:r>
              <a:rPr lang="en-US" dirty="0" smtClean="0"/>
              <a:t>Latch Key</a:t>
            </a:r>
          </a:p>
          <a:p>
            <a:r>
              <a:rPr lang="en-US" dirty="0" smtClean="0"/>
              <a:t>Ventilation Airflow Analysis</a:t>
            </a:r>
          </a:p>
          <a:p>
            <a:r>
              <a:rPr lang="en-US" dirty="0" smtClean="0"/>
              <a:t>Fan Baffle designs </a:t>
            </a:r>
          </a:p>
          <a:p>
            <a:r>
              <a:rPr lang="en-US" dirty="0" smtClean="0"/>
              <a:t>Hatch Flange</a:t>
            </a:r>
          </a:p>
          <a:p>
            <a:r>
              <a:rPr lang="en-US" dirty="0" smtClean="0"/>
              <a:t>Summary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286" y="1676400"/>
            <a:ext cx="4572000" cy="40936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6" name="Straight Arrow Connector 5"/>
          <p:cNvCxnSpPr/>
          <p:nvPr/>
        </p:nvCxnSpPr>
        <p:spPr>
          <a:xfrm flipH="1">
            <a:off x="4038600" y="3962400"/>
            <a:ext cx="2278913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3352800" y="1676400"/>
            <a:ext cx="2912260" cy="139648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4267200" y="2362200"/>
            <a:ext cx="2247060" cy="53462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24600" y="1219200"/>
            <a:ext cx="1320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white"/>
                </a:solidFill>
              </a:rPr>
              <a:t>Hatch plate</a:t>
            </a:r>
            <a:endParaRPr lang="en-CA" sz="2400" dirty="0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81800" y="1981200"/>
            <a:ext cx="1098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white"/>
                </a:solidFill>
              </a:rPr>
              <a:t>Hatch flange</a:t>
            </a:r>
            <a:endParaRPr lang="en-CA" sz="2400" dirty="0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12902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white"/>
                </a:solidFill>
              </a:rPr>
              <a:t>Hatch ring</a:t>
            </a:r>
            <a:endParaRPr lang="en-CA" sz="2400" dirty="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2400" y="247832"/>
            <a:ext cx="8839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prstClr val="white"/>
                </a:solidFill>
              </a:rPr>
              <a:t>    </a:t>
            </a:r>
            <a:r>
              <a:rPr lang="en-US" sz="4000" dirty="0" smtClean="0">
                <a:latin typeface="+mj-lt"/>
              </a:rPr>
              <a:t>INTRODUCTION</a:t>
            </a:r>
            <a:endParaRPr lang="en-US" sz="40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90800" y="5700732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Figure </a:t>
            </a:r>
            <a:r>
              <a:rPr lang="en-US" dirty="0" smtClean="0">
                <a:solidFill>
                  <a:prstClr val="white"/>
                </a:solidFill>
              </a:rPr>
              <a:t>1 </a:t>
            </a:r>
            <a:r>
              <a:rPr lang="en-US" dirty="0">
                <a:solidFill>
                  <a:prstClr val="white"/>
                </a:solidFill>
              </a:rPr>
              <a:t>: Hatch </a:t>
            </a:r>
            <a:r>
              <a:rPr lang="en-US" dirty="0" smtClean="0">
                <a:solidFill>
                  <a:prstClr val="white"/>
                </a:solidFill>
              </a:rPr>
              <a:t>components [3]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97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Hatch Interface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816" y="1556793"/>
            <a:ext cx="4795442" cy="4101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087724" y="5660809"/>
            <a:ext cx="4977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</a:t>
            </a:r>
            <a:r>
              <a:rPr lang="en-US" sz="140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2: </a:t>
            </a:r>
            <a:r>
              <a:rPr lang="en-US" sz="1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Hatch plate Interface with hatch flange and ring [2] </a:t>
            </a:r>
          </a:p>
          <a:p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60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LATCH MECHANISM</a:t>
            </a:r>
            <a:endParaRPr lang="en-US" dirty="0"/>
          </a:p>
        </p:txBody>
      </p:sp>
      <p:pic>
        <p:nvPicPr>
          <p:cNvPr id="6" name="Content Placeholder 4" descr="IMG_9347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" b="1047"/>
          <a:stretch>
            <a:fillRect/>
          </a:stretch>
        </p:blipFill>
        <p:spPr>
          <a:xfrm>
            <a:off x="533400" y="1295400"/>
            <a:ext cx="8229600" cy="452596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Curved Left Arrow 7"/>
          <p:cNvSpPr/>
          <p:nvPr/>
        </p:nvSpPr>
        <p:spPr>
          <a:xfrm>
            <a:off x="4191000" y="2514600"/>
            <a:ext cx="1066800" cy="16764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 rot="20922348">
            <a:off x="2629223" y="3161143"/>
            <a:ext cx="990600" cy="2352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TextBox 6"/>
          <p:cNvSpPr txBox="1"/>
          <p:nvPr/>
        </p:nvSpPr>
        <p:spPr>
          <a:xfrm>
            <a:off x="2584269" y="5850216"/>
            <a:ext cx="2791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Figure 3</a:t>
            </a:r>
            <a:r>
              <a:rPr lang="en-US" dirty="0" smtClean="0">
                <a:solidFill>
                  <a:prstClr val="white"/>
                </a:solidFill>
              </a:rPr>
              <a:t> </a:t>
            </a:r>
            <a:r>
              <a:rPr lang="en-US" dirty="0">
                <a:solidFill>
                  <a:prstClr val="white"/>
                </a:solidFill>
              </a:rPr>
              <a:t>: </a:t>
            </a:r>
            <a:r>
              <a:rPr lang="en-US" dirty="0" smtClean="0">
                <a:solidFill>
                  <a:prstClr val="white"/>
                </a:solidFill>
              </a:rPr>
              <a:t>Latch Mechanism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34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HINGE MOTION</a:t>
            </a:r>
            <a:endParaRPr lang="en-US" dirty="0"/>
          </a:p>
        </p:txBody>
      </p:sp>
      <p:pic>
        <p:nvPicPr>
          <p:cNvPr id="5" name="Content Placeholder 4" descr="picture 1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9" b="899"/>
          <a:stretch>
            <a:fillRect/>
          </a:stretch>
        </p:blipFill>
        <p:spPr>
          <a:xfrm>
            <a:off x="533400" y="1066800"/>
            <a:ext cx="8229600" cy="453719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7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picture 3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5" b="9645"/>
          <a:stretch>
            <a:fillRect/>
          </a:stretch>
        </p:blipFill>
        <p:spPr>
          <a:xfrm>
            <a:off x="533400" y="1066800"/>
            <a:ext cx="8229600" cy="452596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0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picture 2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8" b="8658"/>
          <a:stretch>
            <a:fillRect/>
          </a:stretch>
        </p:blipFill>
        <p:spPr>
          <a:xfrm>
            <a:off x="533400" y="1066800"/>
            <a:ext cx="8229600" cy="452596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93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LATCH KEY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6388"/>
            <a:ext cx="8229600" cy="4525963"/>
          </a:xfrm>
        </p:spPr>
        <p:txBody>
          <a:bodyPr/>
          <a:lstStyle/>
          <a:p>
            <a:r>
              <a:rPr lang="en-US" dirty="0" smtClean="0"/>
              <a:t>Used to Open the hatch system from outside of the sphere</a:t>
            </a:r>
          </a:p>
          <a:p>
            <a:endParaRPr lang="en-US" dirty="0"/>
          </a:p>
          <a:p>
            <a:r>
              <a:rPr lang="en-US" dirty="0" smtClean="0"/>
              <a:t>Provides an anchor that helps hold onto the hatch while its pulled out.</a:t>
            </a:r>
          </a:p>
          <a:p>
            <a:endParaRPr lang="en-US" dirty="0"/>
          </a:p>
          <a:p>
            <a:r>
              <a:rPr lang="en-US" dirty="0" smtClean="0"/>
              <a:t>Manufactured out of 1018 steel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1302250"/>
            <a:ext cx="1676400" cy="3508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Good Times Rg" panose="020B0605020000020001" pitchFamily="34" charset="0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+mn-lt"/>
              </a:rPr>
              <a:t>Overview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909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LATCH KEY</a:t>
            </a:r>
            <a:endParaRPr lang="en-US" dirty="0"/>
          </a:p>
        </p:txBody>
      </p:sp>
      <p:pic>
        <p:nvPicPr>
          <p:cNvPr id="5" name="Content Placeholder 4" descr="IMG_935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" b="1047"/>
          <a:stretch>
            <a:fillRect/>
          </a:stretch>
        </p:blipFill>
        <p:spPr>
          <a:xfrm>
            <a:off x="457200" y="1600203"/>
            <a:ext cx="8229600" cy="411479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9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LATCH KEY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570038"/>
            <a:ext cx="29718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3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371600"/>
            <a:ext cx="8229600" cy="4897439"/>
          </a:xfrm>
        </p:spPr>
        <p:txBody>
          <a:bodyPr>
            <a:normAutofit/>
          </a:bodyPr>
          <a:lstStyle/>
          <a:p>
            <a:r>
              <a:rPr lang="en-US" dirty="0"/>
              <a:t>M</a:t>
            </a:r>
            <a:r>
              <a:rPr lang="en-US" dirty="0" smtClean="0"/>
              <a:t>inimum </a:t>
            </a:r>
            <a:r>
              <a:rPr lang="en-US" dirty="0" smtClean="0"/>
              <a:t>ventilation rate to maintain acceptable levels of indoor environmental parameters, such as</a:t>
            </a:r>
          </a:p>
          <a:p>
            <a:endParaRPr lang="en-US" dirty="0" smtClean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smtClean="0"/>
              <a:t> Temperature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smtClean="0"/>
              <a:t>Relative humidity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smtClean="0"/>
              <a:t>Airborne pollutant concentration </a:t>
            </a:r>
            <a:r>
              <a:rPr lang="en-US" dirty="0" smtClean="0"/>
              <a:t>(CO2</a:t>
            </a:r>
            <a:r>
              <a:rPr lang="en-US" dirty="0" smtClean="0"/>
              <a:t>)    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5" name="Rectangle 4"/>
          <p:cNvSpPr/>
          <p:nvPr/>
        </p:nvSpPr>
        <p:spPr>
          <a:xfrm>
            <a:off x="76199" y="152400"/>
            <a:ext cx="89916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>
                <a:latin typeface="+mj-lt"/>
              </a:rPr>
              <a:t>VENTILATION AIRFLOW ANALYSIS</a:t>
            </a:r>
            <a:endParaRPr 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120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95800" y="1143000"/>
            <a:ext cx="3505200" cy="304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143000"/>
            <a:ext cx="3397619" cy="304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2400" y="41910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Figure 4: Illustrates of a </a:t>
            </a:r>
            <a:r>
              <a:rPr lang="en-CA" dirty="0" smtClean="0"/>
              <a:t>DC </a:t>
            </a:r>
            <a:r>
              <a:rPr lang="en-CA" dirty="0"/>
              <a:t>cooling fan</a:t>
            </a:r>
            <a:r>
              <a:rPr lang="en-CA" dirty="0" smtClean="0"/>
              <a:t> equipment and air movement through sphere[1]</a:t>
            </a:r>
            <a:r>
              <a:rPr lang="en-US" dirty="0" smtClean="0"/>
              <a:t> </a:t>
            </a:r>
            <a:endParaRPr lang="en-CA" dirty="0"/>
          </a:p>
        </p:txBody>
      </p:sp>
      <p:sp>
        <p:nvSpPr>
          <p:cNvPr id="7" name="Rectangle 6"/>
          <p:cNvSpPr/>
          <p:nvPr/>
        </p:nvSpPr>
        <p:spPr>
          <a:xfrm>
            <a:off x="152400" y="228600"/>
            <a:ext cx="8839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>
                <a:latin typeface="+mj-lt"/>
              </a:rPr>
              <a:t>AIRFLOW ANALYSIS</a:t>
            </a:r>
            <a:endParaRPr lang="en-US" sz="40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4572000"/>
            <a:ext cx="8610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 smtClean="0">
                <a:solidFill>
                  <a:srgbClr val="FF0000"/>
                </a:solidFill>
              </a:rPr>
              <a:t>Ventilation </a:t>
            </a:r>
            <a:r>
              <a:rPr lang="en-US" sz="2800" dirty="0">
                <a:solidFill>
                  <a:srgbClr val="FF0000"/>
                </a:solidFill>
              </a:rPr>
              <a:t>for  the CUSP Project would be achieved by </a:t>
            </a:r>
            <a:r>
              <a:rPr lang="en-US" sz="2800" dirty="0" smtClean="0"/>
              <a:t>8 </a:t>
            </a:r>
            <a:r>
              <a:rPr lang="en-US" sz="2800" dirty="0"/>
              <a:t>S</a:t>
            </a:r>
            <a:r>
              <a:rPr lang="en-US" sz="2800" dirty="0" smtClean="0"/>
              <a:t>ony </a:t>
            </a:r>
            <a:r>
              <a:rPr lang="en-US" sz="2800" dirty="0"/>
              <a:t>S-flex fans</a:t>
            </a:r>
            <a:r>
              <a:rPr lang="en-US" sz="2800" dirty="0" smtClean="0"/>
              <a:t>, 4 </a:t>
            </a:r>
            <a:r>
              <a:rPr lang="en-US" sz="2800" dirty="0"/>
              <a:t>of which would bring air into the sphere and the other 4 would take air out </a:t>
            </a:r>
            <a:r>
              <a:rPr lang="en-US" sz="2800" dirty="0" smtClean="0"/>
              <a:t>of </a:t>
            </a:r>
            <a:r>
              <a:rPr lang="en-US" sz="2800" dirty="0"/>
              <a:t>the sphere</a:t>
            </a:r>
          </a:p>
        </p:txBody>
      </p:sp>
    </p:spTree>
    <p:extLst>
      <p:ext uri="{BB962C8B-B14F-4D97-AF65-F5344CB8AC3E}">
        <p14:creationId xmlns:p14="http://schemas.microsoft.com/office/powerpoint/2010/main" val="128695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OF ANALSYS</a:t>
            </a:r>
            <a:endParaRPr lang="en-US" dirty="0"/>
          </a:p>
        </p:txBody>
      </p:sp>
      <p:sp>
        <p:nvSpPr>
          <p:cNvPr id="5" name="Content Placeholder 2"/>
          <p:cNvSpPr txBox="1">
            <a:spLocks noGrp="1"/>
          </p:cNvSpPr>
          <p:nvPr>
            <p:ph idx="1"/>
          </p:nvPr>
        </p:nvSpPr>
        <p:spPr>
          <a:xfrm>
            <a:off x="457200" y="1219200"/>
            <a:ext cx="8229600" cy="4906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ClrTx/>
              <a:buFont typeface="Arial"/>
              <a:buChar char="•"/>
            </a:pPr>
            <a:r>
              <a:rPr lang="en-US" sz="3200" dirty="0" smtClean="0"/>
              <a:t>The Principles of ventilation in this presentation are reviewed from the perspective of mass and energy balance</a:t>
            </a:r>
          </a:p>
          <a:p>
            <a:pPr>
              <a:buClrTx/>
              <a:buFont typeface="Arial"/>
              <a:buChar char="•"/>
            </a:pPr>
            <a:endParaRPr lang="en-US" sz="3200" dirty="0" smtClean="0"/>
          </a:p>
          <a:p>
            <a:pPr lvl="1">
              <a:buClrTx/>
              <a:buFont typeface="Wingdings" panose="05000000000000000000" pitchFamily="2" charset="2"/>
              <a:buChar char="§"/>
            </a:pPr>
            <a:r>
              <a:rPr lang="en-US" sz="2800" dirty="0">
                <a:latin typeface="+mn-lt"/>
              </a:rPr>
              <a:t>Mass balance for total air ventilation </a:t>
            </a:r>
          </a:p>
          <a:p>
            <a:pPr lvl="1">
              <a:buClrTx/>
              <a:buFont typeface="Wingdings" panose="05000000000000000000" pitchFamily="2" charset="2"/>
              <a:buChar char="§"/>
            </a:pPr>
            <a:r>
              <a:rPr lang="en-US" sz="2800" dirty="0">
                <a:latin typeface="+mn-lt"/>
              </a:rPr>
              <a:t>Energy balance for sensible heat</a:t>
            </a:r>
          </a:p>
          <a:p>
            <a:pPr lvl="1">
              <a:buClrTx/>
              <a:buFont typeface="Wingdings" panose="05000000000000000000" pitchFamily="2" charset="2"/>
              <a:buChar char="§"/>
            </a:pPr>
            <a:r>
              <a:rPr lang="en-US" sz="2800" dirty="0">
                <a:latin typeface="+mn-lt"/>
              </a:rPr>
              <a:t>Mass balance for moisture</a:t>
            </a:r>
          </a:p>
          <a:p>
            <a:pPr lvl="1">
              <a:buClrTx/>
              <a:buFont typeface="Wingdings" panose="05000000000000000000" pitchFamily="2" charset="2"/>
              <a:buChar char="§"/>
            </a:pPr>
            <a:r>
              <a:rPr lang="en-US" sz="2800" dirty="0">
                <a:latin typeface="+mn-lt"/>
              </a:rPr>
              <a:t>Mass  balance for specific pollutants           </a:t>
            </a:r>
            <a:endParaRPr lang="en-CA" sz="2800" dirty="0">
              <a:latin typeface="+mn-lt"/>
            </a:endParaRPr>
          </a:p>
          <a:p>
            <a:pPr>
              <a:buFont typeface="Arial"/>
              <a:buChar char="•"/>
            </a:pPr>
            <a:endParaRPr lang="en-US" sz="3200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pPr marL="0" indent="0">
              <a:buFont typeface="Wingdings 3" charset="2"/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ASSUMPTIONS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spatial gradient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Mass of air in equal mass of air out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2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1" y="380764"/>
            <a:ext cx="4381901" cy="62786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4000" dirty="0" smtClean="0"/>
              <a:t>Requirements </a:t>
            </a:r>
          </a:p>
          <a:p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</a:t>
            </a:r>
            <a:r>
              <a:rPr lang="en-US" sz="2800" dirty="0" smtClean="0"/>
              <a:t>phere within a </a:t>
            </a:r>
            <a:r>
              <a:rPr lang="en-US" sz="2800" dirty="0" smtClean="0">
                <a:solidFill>
                  <a:srgbClr val="FF0000"/>
                </a:solidFill>
              </a:rPr>
              <a:t>5 degree </a:t>
            </a:r>
            <a:r>
              <a:rPr lang="en-US" sz="2800" dirty="0" smtClean="0"/>
              <a:t>increase in temperature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Relative humidity maintained between </a:t>
            </a:r>
            <a:r>
              <a:rPr lang="en-US" sz="2800" dirty="0" smtClean="0">
                <a:solidFill>
                  <a:srgbClr val="FF0000"/>
                </a:solidFill>
              </a:rPr>
              <a:t>30% and 60%</a:t>
            </a:r>
          </a:p>
          <a:p>
            <a:endParaRPr lang="en-US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Co2 levels below </a:t>
            </a:r>
            <a:r>
              <a:rPr lang="en-US" sz="2800" dirty="0" smtClean="0">
                <a:solidFill>
                  <a:srgbClr val="FF0000"/>
                </a:solidFill>
              </a:rPr>
              <a:t>800 </a:t>
            </a:r>
            <a:r>
              <a:rPr lang="en-US" sz="2800" dirty="0" err="1" smtClean="0">
                <a:solidFill>
                  <a:srgbClr val="FF0000"/>
                </a:solidFill>
              </a:rPr>
              <a:t>ppmv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dirty="0" smtClean="0"/>
              <a:t> </a:t>
            </a:r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4422808" y="294136"/>
            <a:ext cx="4649003" cy="80945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algn="ctr"/>
            <a:r>
              <a:rPr lang="en-US" sz="4000" dirty="0" smtClean="0"/>
              <a:t>Fan outputs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Total fan CFM output: </a:t>
            </a:r>
            <a:r>
              <a:rPr lang="en-US" sz="2800" dirty="0" smtClean="0">
                <a:solidFill>
                  <a:srgbClr val="FFFF00"/>
                </a:solidFill>
              </a:rPr>
              <a:t>258.4 CFM</a:t>
            </a:r>
          </a:p>
          <a:p>
            <a:endParaRPr lang="en-US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Relative </a:t>
            </a:r>
            <a:r>
              <a:rPr lang="en-US" sz="2800" dirty="0"/>
              <a:t>humidity maintained </a:t>
            </a:r>
            <a:r>
              <a:rPr lang="en-US" sz="2800" dirty="0" smtClean="0"/>
              <a:t>at </a:t>
            </a:r>
            <a:r>
              <a:rPr lang="en-US" sz="2800" dirty="0" smtClean="0">
                <a:solidFill>
                  <a:srgbClr val="FFFF00"/>
                </a:solidFill>
              </a:rPr>
              <a:t>40%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/>
              <a:t>C02 levels do not exceed </a:t>
            </a:r>
            <a:r>
              <a:rPr lang="en-US" sz="2800" dirty="0" smtClean="0">
                <a:solidFill>
                  <a:srgbClr val="FFFF00"/>
                </a:solidFill>
              </a:rPr>
              <a:t>700 </a:t>
            </a:r>
            <a:r>
              <a:rPr lang="en-US" sz="2800" dirty="0" err="1" smtClean="0">
                <a:solidFill>
                  <a:srgbClr val="FFFF00"/>
                </a:solidFill>
              </a:rPr>
              <a:t>ppmv</a:t>
            </a:r>
            <a:endParaRPr lang="en-US" sz="2800" dirty="0" smtClean="0">
              <a:solidFill>
                <a:srgbClr val="FFFF00"/>
              </a:solidFill>
            </a:endParaRPr>
          </a:p>
          <a:p>
            <a:r>
              <a:rPr lang="en-US" sz="2000" dirty="0" smtClean="0"/>
              <a:t> </a:t>
            </a:r>
            <a:endParaRPr lang="en-US" sz="2000" dirty="0"/>
          </a:p>
          <a:p>
            <a:r>
              <a:rPr lang="en-US" sz="2000" dirty="0" smtClean="0"/>
              <a:t> </a:t>
            </a:r>
            <a:endParaRPr lang="en-US" sz="2000" dirty="0"/>
          </a:p>
          <a:p>
            <a:endParaRPr lang="en-US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dirty="0" smtClean="0"/>
              <a:t> </a:t>
            </a:r>
            <a:endParaRPr lang="en-CA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4422808" y="76200"/>
            <a:ext cx="0" cy="6705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99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CA" dirty="0"/>
          </a:p>
        </p:txBody>
      </p:sp>
      <p:sp>
        <p:nvSpPr>
          <p:cNvPr id="5" name="Title 1"/>
          <p:cNvSpPr txBox="1">
            <a:spLocks noGrp="1"/>
          </p:cNvSpPr>
          <p:nvPr>
            <p:ph idx="1"/>
          </p:nvPr>
        </p:nvSpPr>
        <p:spPr>
          <a:xfrm>
            <a:off x="573906" y="1112835"/>
            <a:ext cx="8229600" cy="3535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Good Times Rg" panose="020B0605020000020001" pitchFamily="34" charset="0"/>
                <a:ea typeface="+mj-ea"/>
                <a:cs typeface="+mj-cs"/>
              </a:defRPr>
            </a:lvl1pPr>
          </a:lstStyle>
          <a:p>
            <a:pPr algn="l">
              <a:buFont typeface="Wingdings" panose="05000000000000000000" pitchFamily="2" charset="2"/>
              <a:buChar char="ü"/>
            </a:pPr>
            <a:r>
              <a:rPr lang="en-US" sz="2400" dirty="0" smtClean="0"/>
              <a:t>After </a:t>
            </a:r>
            <a:r>
              <a:rPr lang="en-US" sz="2400" dirty="0"/>
              <a:t>analysis the CFM requirement is based on </a:t>
            </a:r>
            <a:r>
              <a:rPr lang="en-US" sz="2400" dirty="0" smtClean="0"/>
              <a:t>temperature control </a:t>
            </a:r>
            <a:r>
              <a:rPr lang="en-US" sz="2400" dirty="0"/>
              <a:t>with  </a:t>
            </a:r>
            <a:r>
              <a:rPr lang="en-US" sz="2400" dirty="0" smtClean="0">
                <a:solidFill>
                  <a:srgbClr val="92D050"/>
                </a:solidFill>
              </a:rPr>
              <a:t>219 CFM</a:t>
            </a:r>
            <a:endParaRPr lang="en-US" sz="2400" dirty="0">
              <a:solidFill>
                <a:srgbClr val="92D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4648200"/>
            <a:ext cx="8463012" cy="581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Good Times Rg" panose="020B0605020000020001" pitchFamily="34" charset="0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dirty="0" smtClean="0"/>
              <a:t>Based on analysis Fans meet requirements for ventilation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5369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Fan Baffles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90968"/>
            <a:ext cx="4267200" cy="336695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383893"/>
            <a:ext cx="4419600" cy="33811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71800" y="4764996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Figure </a:t>
            </a:r>
            <a:r>
              <a:rPr lang="en-US" dirty="0" smtClean="0">
                <a:solidFill>
                  <a:prstClr val="white"/>
                </a:solidFill>
              </a:rPr>
              <a:t>5: Fan Baffle Designs 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01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14400"/>
            <a:ext cx="6400800" cy="47545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3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HATCH FLANGE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8538"/>
            <a:ext cx="8229600" cy="4525963"/>
          </a:xfrm>
        </p:spPr>
        <p:txBody>
          <a:bodyPr/>
          <a:lstStyle/>
          <a:p>
            <a:r>
              <a:rPr lang="en-US" dirty="0" smtClean="0"/>
              <a:t>Provides rigidity to the sphere</a:t>
            </a:r>
          </a:p>
          <a:p>
            <a:endParaRPr lang="en-US" dirty="0" smtClean="0"/>
          </a:p>
          <a:p>
            <a:r>
              <a:rPr lang="en-US" dirty="0" smtClean="0"/>
              <a:t>Provides connection for the hatch plate in the lock position </a:t>
            </a:r>
          </a:p>
          <a:p>
            <a:endParaRPr lang="en-US" dirty="0" smtClean="0"/>
          </a:p>
          <a:p>
            <a:r>
              <a:rPr lang="en-US" dirty="0" smtClean="0"/>
              <a:t>Provides flat surface for the hatch to rest upon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1302250"/>
            <a:ext cx="1676400" cy="3508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Good Times Rg" panose="020B0605020000020001" pitchFamily="34" charset="0"/>
                <a:ea typeface="+mj-ea"/>
                <a:cs typeface="+mj-cs"/>
              </a:defRPr>
            </a:lvl1pPr>
          </a:lstStyle>
          <a:p>
            <a:r>
              <a:rPr lang="en-US" sz="2800" dirty="0" smtClean="0">
                <a:latin typeface="+mn-lt"/>
              </a:rPr>
              <a:t>Overview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059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534400" cy="1143000"/>
          </a:xfrm>
        </p:spPr>
        <p:txBody>
          <a:bodyPr/>
          <a:lstStyle/>
          <a:p>
            <a:r>
              <a:rPr lang="en-US" dirty="0" smtClean="0"/>
              <a:t>Flange &amp; slam bolt connection</a:t>
            </a:r>
            <a:endParaRPr lang="en-C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52" y="1600201"/>
            <a:ext cx="7381096" cy="4191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7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HATCH-FLANGE INTERFACE</a:t>
            </a:r>
            <a:endParaRPr lang="en-CA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785" y="1600200"/>
            <a:ext cx="5220429" cy="415348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9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8" name="Picture 7" descr="IMG_9064.CR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17638"/>
            <a:ext cx="7924800" cy="429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7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610600" cy="1143000"/>
          </a:xfrm>
        </p:spPr>
        <p:txBody>
          <a:bodyPr/>
          <a:lstStyle/>
          <a:p>
            <a:r>
              <a:rPr lang="en-US" dirty="0" smtClean="0"/>
              <a:t>Hatch bolt holes Counter-sunk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89910" y="1761310"/>
            <a:ext cx="4783182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5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Latch key was </a:t>
            </a:r>
            <a:r>
              <a:rPr lang="en-US" dirty="0" smtClean="0"/>
              <a:t>manufactured</a:t>
            </a:r>
          </a:p>
          <a:p>
            <a:r>
              <a:rPr lang="en-US" dirty="0" smtClean="0"/>
              <a:t>Hatch </a:t>
            </a:r>
            <a:r>
              <a:rPr lang="en-US" dirty="0"/>
              <a:t>system CAD files were </a:t>
            </a:r>
            <a:r>
              <a:rPr lang="en-US" dirty="0" smtClean="0"/>
              <a:t>updated</a:t>
            </a:r>
          </a:p>
          <a:p>
            <a:r>
              <a:rPr lang="en-US" dirty="0" smtClean="0"/>
              <a:t>Air </a:t>
            </a:r>
            <a:r>
              <a:rPr lang="en-US" dirty="0"/>
              <a:t>flow analysis was performed</a:t>
            </a:r>
          </a:p>
          <a:p>
            <a:r>
              <a:rPr lang="en-US" dirty="0"/>
              <a:t>Fan Baffles were </a:t>
            </a:r>
            <a:r>
              <a:rPr lang="en-US" dirty="0" smtClean="0"/>
              <a:t>designed</a:t>
            </a:r>
          </a:p>
          <a:p>
            <a:r>
              <a:rPr lang="en-US" dirty="0" smtClean="0"/>
              <a:t>Slam bolts connection on hatch flange was machined </a:t>
            </a:r>
          </a:p>
          <a:p>
            <a:r>
              <a:rPr lang="en-US" dirty="0" smtClean="0"/>
              <a:t>Hatch Flange bolt slots were counter sunk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779F-7AA2-4D19-B818-C0A0925E5D14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03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576" y="56272"/>
            <a:ext cx="8229600" cy="61475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500" dirty="0" smtClean="0"/>
              <a:t>References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[</a:t>
            </a:r>
            <a:r>
              <a:rPr lang="en-US" dirty="0" smtClean="0"/>
              <a:t>1]	K</a:t>
            </a:r>
            <a:r>
              <a:rPr lang="en-US" dirty="0"/>
              <a:t>. </a:t>
            </a:r>
            <a:r>
              <a:rPr lang="en-US" dirty="0" err="1"/>
              <a:t>Shahin</a:t>
            </a:r>
            <a:r>
              <a:rPr lang="en-US" dirty="0"/>
              <a:t>, “Hatch and ventilation,” Carleton University, Ottawa, ON, Design report. Rep. </a:t>
            </a:r>
            <a:r>
              <a:rPr lang="en-CA" dirty="0" smtClean="0"/>
              <a:t>DR-STR-KS.11.Hatchandventilation.02</a:t>
            </a:r>
            <a:r>
              <a:rPr lang="en-CA" dirty="0"/>
              <a:t>, April 2011</a:t>
            </a:r>
            <a:r>
              <a:rPr lang="en-CA" dirty="0" smtClean="0"/>
              <a:t>.</a:t>
            </a:r>
          </a:p>
          <a:p>
            <a:pPr marL="0" indent="0">
              <a:buNone/>
            </a:pPr>
            <a:endParaRPr lang="en-CA" dirty="0" smtClean="0"/>
          </a:p>
          <a:p>
            <a:pPr marL="0" indent="0">
              <a:buNone/>
            </a:pPr>
            <a:r>
              <a:rPr lang="en-CA" dirty="0"/>
              <a:t>[</a:t>
            </a:r>
            <a:r>
              <a:rPr lang="en-CA" dirty="0" smtClean="0"/>
              <a:t>2]      Y. Zhang</a:t>
            </a:r>
            <a:r>
              <a:rPr lang="en-CA" dirty="0"/>
              <a:t>, ”Ventilation requirements and measurement”, in </a:t>
            </a:r>
            <a:r>
              <a:rPr lang="en-CA" i="1" dirty="0"/>
              <a:t>Indoor air quality engineering</a:t>
            </a:r>
            <a:r>
              <a:rPr lang="en-CA" dirty="0"/>
              <a:t>. Boca </a:t>
            </a:r>
            <a:r>
              <a:rPr lang="en-CA" dirty="0" smtClean="0"/>
              <a:t>Raton</a:t>
            </a:r>
            <a:r>
              <a:rPr lang="en-CA" dirty="0"/>
              <a:t>, Fla.: </a:t>
            </a:r>
            <a:r>
              <a:rPr lang="en-CA" dirty="0" smtClean="0"/>
              <a:t>CRC </a:t>
            </a:r>
            <a:r>
              <a:rPr lang="en-CA" dirty="0"/>
              <a:t>Press, 2005</a:t>
            </a:r>
            <a:r>
              <a:rPr lang="en-CA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CA" dirty="0"/>
              <a:t> </a:t>
            </a:r>
            <a:r>
              <a:rPr lang="en-CA" dirty="0" smtClean="0"/>
              <a:t>[3]</a:t>
            </a:r>
            <a:r>
              <a:rPr lang="en-CA" dirty="0"/>
              <a:t> 	William McNair. Hatch Design. </a:t>
            </a:r>
            <a:r>
              <a:rPr lang="en-CA" dirty="0" smtClean="0"/>
              <a:t>Design Report</a:t>
            </a:r>
            <a:r>
              <a:rPr lang="en-CA" dirty="0"/>
              <a:t>, Carleton University, </a:t>
            </a:r>
            <a:r>
              <a:rPr lang="en-CA" dirty="0" smtClean="0"/>
              <a:t>DR-STR-wm.14.HatchDesign.01 </a:t>
            </a:r>
            <a:r>
              <a:rPr lang="en-CA" dirty="0"/>
              <a:t>2014.</a:t>
            </a:r>
          </a:p>
          <a:p>
            <a:pPr marL="0" indent="0" defTabSz="457200">
              <a:spcBef>
                <a:spcPts val="0"/>
              </a:spcBef>
              <a:buNone/>
              <a:defRPr/>
            </a:pPr>
            <a:endParaRPr lang="en-CA" dirty="0"/>
          </a:p>
          <a:p>
            <a:pPr marL="0" indent="0" defTabSz="457200">
              <a:spcBef>
                <a:spcPts val="0"/>
              </a:spcBef>
              <a:buNone/>
              <a:defRPr/>
            </a:pPr>
            <a:endParaRPr lang="en-US" dirty="0"/>
          </a:p>
          <a:p>
            <a:pPr marL="0" indent="0" defTabSz="457200">
              <a:spcBef>
                <a:spcPts val="0"/>
              </a:spcBef>
              <a:buNone/>
              <a:defRPr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371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866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P">
      <a:majorFont>
        <a:latin typeface="Good Times Rg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1659</TotalTime>
  <Words>428</Words>
  <Application>Microsoft Office PowerPoint</Application>
  <PresentationFormat>On-screen Show (4:3)</PresentationFormat>
  <Paragraphs>149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Good Times Rg</vt:lpstr>
      <vt:lpstr>Wingdings</vt:lpstr>
      <vt:lpstr>Wingdings 3</vt:lpstr>
      <vt:lpstr>Office Theme</vt:lpstr>
      <vt:lpstr>HATCH AND VENTILATION</vt:lpstr>
      <vt:lpstr>OVERVIEW</vt:lpstr>
      <vt:lpstr>PowerPoint Presentation</vt:lpstr>
      <vt:lpstr>Hatch Interface</vt:lpstr>
      <vt:lpstr>LATCH MECHANISM</vt:lpstr>
      <vt:lpstr>HINGE MOTION</vt:lpstr>
      <vt:lpstr>PowerPoint Presentation</vt:lpstr>
      <vt:lpstr>PowerPoint Presentation</vt:lpstr>
      <vt:lpstr>LATCH KEY</vt:lpstr>
      <vt:lpstr>LATCH KEY</vt:lpstr>
      <vt:lpstr>LATCH KEY</vt:lpstr>
      <vt:lpstr>PowerPoint Presentation</vt:lpstr>
      <vt:lpstr>PowerPoint Presentation</vt:lpstr>
      <vt:lpstr>METHOD OF ANALSYS</vt:lpstr>
      <vt:lpstr>ASSUMPTIONS </vt:lpstr>
      <vt:lpstr>PowerPoint Presentation</vt:lpstr>
      <vt:lpstr>CONCLUSION</vt:lpstr>
      <vt:lpstr>Fan Baffles </vt:lpstr>
      <vt:lpstr>PowerPoint Presentation</vt:lpstr>
      <vt:lpstr>HATCH FLANGE</vt:lpstr>
      <vt:lpstr>Flange &amp; slam bolt connection</vt:lpstr>
      <vt:lpstr>HATCH-FLANGE INTERFACE</vt:lpstr>
      <vt:lpstr>PowerPoint Presentation</vt:lpstr>
      <vt:lpstr>Hatch bolt holes Counter-sunk </vt:lpstr>
      <vt:lpstr>Summary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dmoar</dc:creator>
  <cp:lastModifiedBy>Olamide Olayinka</cp:lastModifiedBy>
  <cp:revision>81</cp:revision>
  <dcterms:created xsi:type="dcterms:W3CDTF">2013-11-27T01:08:43Z</dcterms:created>
  <dcterms:modified xsi:type="dcterms:W3CDTF">2016-04-01T16:48:56Z</dcterms:modified>
</cp:coreProperties>
</file>